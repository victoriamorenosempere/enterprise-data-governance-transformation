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7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329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76288" y="-822960"/>
            <a:ext cx="3657600" cy="36576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Global Manufacturing </a:t>
            </a:r>
            <a:r>
              <a:rPr lang="en-US" sz="1400" dirty="0" err="1">
                <a:solidFill>
                  <a:schemeClr val="bg1"/>
                </a:solidFill>
              </a:rPr>
              <a:t>Organisation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39" y="1143000"/>
            <a:ext cx="868002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Governance Transformation</a:t>
            </a:r>
          </a:p>
          <a:p>
            <a:r>
              <a:rPr lang="en-US" sz="3000" dirty="0">
                <a:solidFill>
                  <a:schemeClr val="bg1"/>
                </a:solidFill>
              </a:rPr>
              <a:t>Sustainability &amp; Regulatory Reporting Automation Framework</a:t>
            </a:r>
          </a:p>
        </p:txBody>
      </p:sp>
      <p:sp>
        <p:nvSpPr>
          <p:cNvPr id="6" name="Shape 4"/>
          <p:cNvSpPr/>
          <p:nvPr/>
        </p:nvSpPr>
        <p:spPr>
          <a:xfrm>
            <a:off x="320040" y="2468880"/>
            <a:ext cx="5486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2560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analysis  |  Governance controls  |  To-be automated pipeline 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044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32369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&amp; stabilise the whole process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30175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3044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337560" y="32369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governance controls in place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301752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3044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63640" y="32369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 to-be automated state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9136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Moreno Sempere  |  Data Solutions Lead ·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9676A-047A-0436-6EE4-FEDE07198C5E}"/>
              </a:ext>
            </a:extLst>
          </p:cNvPr>
          <p:cNvSpPr txBox="1"/>
          <p:nvPr/>
        </p:nvSpPr>
        <p:spPr>
          <a:xfrm>
            <a:off x="4947920" y="4053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" y="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— Broken Process: Mapped, Failure Points Named &amp; Damage Quantified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0" y="54864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54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01 — Map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" y="42062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types: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932688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4297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/ Scope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103120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21992" y="4297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/ Ownership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3273552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4297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/ Lineage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443984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D8B4FE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62856" y="4297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5614416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33288" y="4297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error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6784848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4297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Key-person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7955280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74152" y="4297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risk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3152" y="566928"/>
            <a:ext cx="1261872" cy="676656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" y="612648"/>
            <a:ext cx="11887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query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408176" y="621792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44752" y="621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request template: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383280" y="621792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hoc emails · no standard fields · no agreed scope · no tracking of responses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408176" y="813816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44752" y="8138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SLA: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383280" y="813816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sites respond in 2 days · others 2 weeks · no deadline · no escalation · process blocked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321040" y="804672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21040" y="81381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wks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delay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408176" y="1005840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44752" y="10058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discovered late: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383280" y="1005840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submissions only found at consolidation — 1–2 weeks after request sent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8321040" y="1005840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21040" y="1005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~40%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cycles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3152" y="1289304"/>
            <a:ext cx="1261872" cy="676656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" y="1335024"/>
            <a:ext cx="11887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08176" y="1344168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44752" y="1344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 — manual export: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383280" y="1344168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manually logs into SAP · runs custom extract · copies required fields · sends by email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408176" y="1536192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444752" y="1536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/ Plant systems — no standard: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383280" y="1536192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site uses separate local system · some Excel · some databases · some paper typed up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408176" y="1728216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444752" y="17282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data — uncontrolled format: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383280" y="1728216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partners · suppliers · energy companies send Excel/PDF/CSV in any format they choose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73152" y="2011680"/>
            <a:ext cx="1261872" cy="877824"/>
          </a:xfrm>
          <a:prstGeom prst="roundRect">
            <a:avLst>
              <a:gd name="adj" fmla="val 520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1440" y="2057400"/>
            <a:ext cx="118872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08176" y="2066544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444752" y="20665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standard format: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383280" y="2066544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A: kWh · Factory B: MWh · Factory C: GJ — manual conversion required · errors undetected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8321040" y="2066544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307125" y="20574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errors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408176" y="2258568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444752" y="22585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standard scope: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383280" y="2258568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1/2/3 (Direct / Grid electricity / Supply chain) interpreted differently by each site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408176" y="2450592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444752" y="24505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SLA — delays cascade: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383280" y="2450592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sites: 2 days · others 2 weeks · no deadline enforced · whole process blocked waiting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321040" y="2450592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321040" y="24505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wks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cycle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408176" y="2642616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444752" y="26426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Missing data discovered late: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383280" y="2642616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files only found at consolidation — re-request required · further delay added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321040" y="2642616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321040" y="264261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~40%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cycles affected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3152" y="2935224"/>
            <a:ext cx="1261872" cy="676656"/>
          </a:xfrm>
          <a:prstGeom prst="roundRect">
            <a:avLst>
              <a:gd name="adj" fmla="val 67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1440" y="2980944"/>
            <a:ext cx="11887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408176" y="2990088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444752" y="29900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lineage — audit trail permanently lost: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3383280" y="2990088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severs origin · no record of which factory · export · date — row 47 is unexplainable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408176" y="3182112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AF5FF"/>
          </a:solidFill>
          <a:ln w="9525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444752" y="31821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Version chaos: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383280" y="3182112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v2 · FINAL · FINAL_USE_THIS — no single authoritative version exists across the team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8321040" y="3182112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8321040" y="318211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errors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408176" y="3374136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EF9EE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444752" y="33741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Silent Excel errors: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3383280" y="3374136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tab · formula shifts when rows inserted · thousands vs millions — invisible until review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8321040" y="3374136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321040" y="33741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~1.5 days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effort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82" name="Shape 80"/>
          <p:cNvSpPr/>
          <p:nvPr/>
        </p:nvSpPr>
        <p:spPr>
          <a:xfrm>
            <a:off x="73152" y="3657600"/>
            <a:ext cx="1261872" cy="676656"/>
          </a:xfrm>
          <a:prstGeom prst="roundRect">
            <a:avLst>
              <a:gd name="adj" fmla="val 67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1440" y="3703320"/>
            <a:ext cx="11887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408176" y="3712464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FEF9EE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444752" y="37124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Undocumented logic: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3383280" y="3712464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factor buried in cell F4 tab "Factors" · never documented · updated without record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1408176" y="3904488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DF2F8"/>
          </a:solidFill>
          <a:ln w="9525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444752" y="39044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Key-person dependency: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3383280" y="3904488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 understands the spreadsheet · if absent process stops entirely · no backup · no SOP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8321040" y="3904488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321040" y="39044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08176" y="4096512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AF5FF"/>
          </a:solidFill>
          <a:ln w="9525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444752" y="40965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version history — 0 versions recorded: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3383280" y="4096512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confirm which factor produced which output · ~90% probability engineer will flag technical figures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8321040" y="4096512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8321040" y="409651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challenged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97" name="Shape 95"/>
          <p:cNvSpPr/>
          <p:nvPr/>
        </p:nvSpPr>
        <p:spPr>
          <a:xfrm>
            <a:off x="73152" y="4379976"/>
            <a:ext cx="1261872" cy="676656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91440" y="4425696"/>
            <a:ext cx="11887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408176" y="4434840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444752" y="44348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attached: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3383280" y="4434840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delivered with no source reference · no methodology note · stakeholder cannot verify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1408176" y="4626864"/>
            <a:ext cx="7626096" cy="16459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444752" y="46268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risk: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3383280" y="4626864"/>
            <a:ext cx="5614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Sustainability Reporting Directive · GHG Protocol · CDP Carbon Disclosure Project all require full traceability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1408176" y="4818888"/>
            <a:ext cx="6894576" cy="164592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444752" y="48188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Review loop — adds 1–2 weeks minimum: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3383280" y="4818888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not trusted → manual trace → source updated → re-request → same errors → trust eroded → deadline at risk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8321040" y="4818888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8321040" y="4818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5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</a:t>
            </a:r>
            <a:endParaRPr lang="en-US" sz="5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" y="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Stabilising the Process — Solution at Every Failure Point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0" y="54864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54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01 — Stabilise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" y="42062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types: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42976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/ Scope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286000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04872" y="42976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/ Ownership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3657600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76472" y="42976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5029200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D8B4FE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48072" y="42976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6400800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9672" y="42976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error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7772400" y="429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91272" y="42976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Key-person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8595360" y="42976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Green = solution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73152" y="566928"/>
            <a:ext cx="1261872" cy="676656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" y="612648"/>
            <a:ext cx="11887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query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08176" y="621792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44752" y="62179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request template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337560" y="64008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11296" y="621792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47872" y="621792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template · required fields · units · scope · same form to all sources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408176" y="813816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44752" y="81381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SLA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337560" y="83210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11296" y="813816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47872" y="813816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per source · auto-reminder at 48hr · named escalation if missed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408176" y="1005840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44752" y="100584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late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337560" y="102412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11296" y="1005840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47872" y="1005840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check on receipt · gap flagged within 24hr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73152" y="1289304"/>
            <a:ext cx="1261872" cy="877824"/>
          </a:xfrm>
          <a:prstGeom prst="roundRect">
            <a:avLst>
              <a:gd name="adj" fmla="val 520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" y="1335024"/>
            <a:ext cx="118872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02–03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408176" y="1344168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444752" y="13441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format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337560" y="136245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11296" y="1344168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547872" y="1344168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dictionary · MWh · tCO₂e · tonnes — auto-applied by Python on every record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408176" y="1536192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444752" y="153619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scope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337560" y="155448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11296" y="1536192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47872" y="1536192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1 (direct) / Scope 2 (grid electricity) / Scope 3 (supply chain) per GHG Protocol — signed off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408176" y="1728216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444752" y="172821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SLA — cascades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337560" y="174650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511296" y="1728216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547872" y="1728216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monitoring · pipeline alerts if source misses deadline · same-day notification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408176" y="1920240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444752" y="192024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late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337560" y="193852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511296" y="1920240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547872" y="1920240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score per run · gaps flagged to named data owner immediately on ingestion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3152" y="2212848"/>
            <a:ext cx="1261872" cy="676656"/>
          </a:xfrm>
          <a:prstGeom prst="roundRect">
            <a:avLst>
              <a:gd name="adj" fmla="val 67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1440" y="2258568"/>
            <a:ext cx="11887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08176" y="2267712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444752" y="226771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lineage — audit trail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3337560" y="228600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511296" y="2267712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547872" y="2267712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tag on every row · source · file · run ID · timestamp — immutable · never overwritten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408176" y="2459736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444752" y="245973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chaos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3337560" y="247802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511296" y="2459736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547872" y="2459736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in Microsoft Fabric · all code in Git · named approval for any change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408176" y="2651760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444752" y="265176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Excel errors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3337560" y="267004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511296" y="2651760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547872" y="2651760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quality checks · range validation · duplicate detection · exceptions logged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73152" y="2935224"/>
            <a:ext cx="1261872" cy="877824"/>
          </a:xfrm>
          <a:prstGeom prst="roundRect">
            <a:avLst>
              <a:gd name="adj" fmla="val 520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91440" y="2980944"/>
            <a:ext cx="118872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408176" y="2990088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444752" y="299008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Undocumented logic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3337560" y="300837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511296" y="2990088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547872" y="2990088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Standard Operating Procedure · all factors documented · version-controlled · no buried cells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408176" y="3182112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444752" y="318211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Key-person dependency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3337560" y="320040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511296" y="3182112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547872" y="3182112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calculation in SQL in Git · any analyst can run or extend · full handover documentation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408176" y="3374136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444752" y="337413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 history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3337560" y="339242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511296" y="3374136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547872" y="3374136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version control · every SQL change committed with author · date · reason · factor version on output rows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408176" y="3566160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444752" y="356616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loss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3337560" y="358444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511296" y="3566160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547872" y="3566160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cleaning layer standardises all units before Microsoft Fabric — calculation always on validated inputs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73152" y="3858768"/>
            <a:ext cx="1261872" cy="475488"/>
          </a:xfrm>
          <a:prstGeom prst="roundRect">
            <a:avLst>
              <a:gd name="adj" fmla="val 961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91440" y="3904488"/>
            <a:ext cx="11887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408176" y="3913632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1444752" y="391363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3337560" y="393192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511296" y="3913632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547872" y="3913632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drill-through in Power BI · any figure → curated table → transform → raw source row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1408176" y="4105656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444752" y="410565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risk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3337560" y="412394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3511296" y="4105656"/>
            <a:ext cx="5522976" cy="16459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547872" y="4105656"/>
            <a:ext cx="544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evidence package auto-compiled · Corporate Sustainability Reporting Directive / GHG Protocol aligned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" y="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Controls — Embedded at Every Stage of the Correct Workflow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0" y="54864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54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02 — Governance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" y="42062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types: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969264" y="42062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42062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280160" y="42062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Ownership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2139696" y="42062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9696" y="42062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450592" y="42062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310128" y="42062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42062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621024" y="42062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/ Lineage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4480560" y="42062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AF5FF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42062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91456" y="42062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650992" y="42062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50992" y="42062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61888" y="42062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6821424" y="42062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21424" y="42062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7132320" y="42062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7991856" y="420624"/>
            <a:ext cx="292608" cy="109728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91856" y="42062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302752" y="42062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Alignment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91440" y="566928"/>
            <a:ext cx="1417320" cy="795528"/>
          </a:xfrm>
          <a:prstGeom prst="roundRect">
            <a:avLst>
              <a:gd name="adj" fmla="val 57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9728" y="621792"/>
            <a:ext cx="13258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query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591056" y="640080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27632" y="640080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template issued — required fields · units · scope · reporting period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001000" y="667512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47304" y="640080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47304" y="64008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591056" y="850392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627632" y="85039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Level Agreement per source — deadline · auto-reminder · named escalation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001000" y="877824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47304" y="850392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147304" y="85039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591056" y="1060704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627632" y="106070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check on receipt — submission validated on arrival · gap flagged 24hr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01000" y="1088136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47304" y="1060704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FF1F2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147304" y="1060704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1440" y="1417320"/>
            <a:ext cx="1417320" cy="1024128"/>
          </a:xfrm>
          <a:prstGeom prst="roundRect">
            <a:avLst>
              <a:gd name="adj" fmla="val 446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9728" y="1472184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591056" y="1490472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627632" y="14904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dictionary applied — units standardised automatically by Python pipeline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001000" y="1517904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47304" y="1490472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147304" y="149047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591056" y="1700784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627632" y="1700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1/2/3 boundaries enforced — GHG Protocol definitions applied on ingestion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001000" y="1728216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47304" y="1700784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147304" y="1700784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591056" y="1911096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627632" y="19110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tagged on every record — source · file · run ID · timestamp · immutable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001000" y="1938528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47304" y="1911096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147304" y="191109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591056" y="2121408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627632" y="2121408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score per source — quality report on every run · gaps flagged immediately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001000" y="2148840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147304" y="2121408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FF1F2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147304" y="2121408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91440" y="2496312"/>
            <a:ext cx="1417320" cy="795528"/>
          </a:xfrm>
          <a:prstGeom prst="roundRect">
            <a:avLst>
              <a:gd name="adj" fmla="val 574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09728" y="2551176"/>
            <a:ext cx="13258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591056" y="2569464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627632" y="256946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raw layer — data as received · append-only · never overwritten · full history retained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8001000" y="2596896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147304" y="2569464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147304" y="2569464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591056" y="2779776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627632" y="277977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— one Fabric warehouse · all code in Git · named approval for changes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001000" y="2807208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147304" y="2779776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147304" y="27797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591056" y="2990088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627632" y="2990088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quality checks — variance flags · completeness · reconciliation report auto-generated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001000" y="3017520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147304" y="2990088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147304" y="2990088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1440" y="3346704"/>
            <a:ext cx="1417320" cy="1024128"/>
          </a:xfrm>
          <a:prstGeom prst="roundRect">
            <a:avLst>
              <a:gd name="adj" fmla="val 446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09728" y="3401568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591056" y="3419856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627632" y="341985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SOP documented — emission factors · conversion rates · Scope logic · annually reviewed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8001000" y="3447288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147304" y="3419856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8147304" y="341985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591056" y="3630168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627632" y="3630168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SQL logic in Git — any analyst can run or extend · factor version on every output row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8001000" y="3657600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147304" y="3630168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8147304" y="3630168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591056" y="3840480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1627632" y="3840480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lineage — every output: raw row → transform → emission factor version → curated result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8001000" y="3867912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147304" y="3840480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8147304" y="384048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591056" y="4050792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627632" y="405079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 — prior year comparison · regulatory checks · reconciliation report auto-produced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8001000" y="4078224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147304" y="4050792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8147304" y="405079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91440" y="4425696"/>
            <a:ext cx="1417320" cy="795528"/>
          </a:xfrm>
          <a:prstGeom prst="roundRect">
            <a:avLst>
              <a:gd name="adj" fmla="val 57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109728" y="4480560"/>
            <a:ext cx="13258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591056" y="4498848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1627632" y="4498848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drill-through in Power BI — any figure → curated table → transform → raw source row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8001000" y="4526280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8147304" y="4498848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8147304" y="4498848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1591056" y="4709160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1627632" y="4709160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sign-off — named approver · timestamp · submitted version locked and archived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8001000" y="4736592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147304" y="4709160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8147304" y="470916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1591056" y="4919472"/>
            <a:ext cx="6400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1627632" y="49194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package auto-compiled — methodology · factors · sources · exception log — Corporate Sustainability Reporting Directive aligned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8001000" y="4946904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8147304" y="4919472"/>
            <a:ext cx="886968" cy="18288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8147304" y="491947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To-Be: The Working Model — Live Data Request, End to End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498080" y="7315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03 — To-Be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37160" y="594360"/>
            <a:ext cx="8869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6126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request: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" y="73152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Scope 1 (direct) and Scope 2 (grid electricity) emissions for all UK plants, Q1 2026, by site — for CDP Carbon Disclosure Project submission by end of week."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wks → ~1 wk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" y="1005840"/>
            <a:ext cx="896112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1060704"/>
            <a:ext cx="1335024" cy="1389888"/>
          </a:xfrm>
          <a:prstGeom prst="roundRect">
            <a:avLst>
              <a:gd name="adj" fmla="val 411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456" y="107899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19456" y="12252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Request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" y="146304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raised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triggered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starts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9456" y="18653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· SOP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517904" y="1609344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81912" y="1060704"/>
            <a:ext cx="1335024" cy="1389888"/>
          </a:xfrm>
          <a:prstGeom prst="roundRect">
            <a:avLst>
              <a:gd name="adj" fmla="val 411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18488" y="107899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618488" y="12252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Python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18488" y="146304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· factory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party read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· tagged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18488" y="18653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· AUDIT · EXC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916936" y="1609344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80944" y="1060704"/>
            <a:ext cx="1335024" cy="1389888"/>
          </a:xfrm>
          <a:prstGeom prst="roundRect">
            <a:avLst>
              <a:gd name="adj" fmla="val 411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17520" y="107899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017520" y="12252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Fabric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146304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 loaded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layer immutable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applied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17520" y="18653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· VER · DQ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315968" y="1609344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9976" y="1060704"/>
            <a:ext cx="1335024" cy="1389888"/>
          </a:xfrm>
          <a:prstGeom prst="roundRect">
            <a:avLst>
              <a:gd name="adj" fmla="val 411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16552" y="107899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16552" y="12252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SQL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16552" y="146304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1/2 calculated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version recorded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table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16552" y="18653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· AUDIT · SOP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715000" y="1609344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79008" y="1060704"/>
            <a:ext cx="1335024" cy="1389888"/>
          </a:xfrm>
          <a:prstGeom prst="roundRect">
            <a:avLst>
              <a:gd name="adj" fmla="val 411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15584" y="107899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815584" y="12252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15584" y="146304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reviewed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Drill-through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sign-off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15584" y="18653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· EXC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114032" y="1609344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78040" y="1060704"/>
            <a:ext cx="1335024" cy="1389888"/>
          </a:xfrm>
          <a:prstGeom prst="roundRect">
            <a:avLst>
              <a:gd name="adj" fmla="val 411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14616" y="107899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214616" y="12252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Power BI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14616" y="146304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Drill-through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extract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214616" y="18653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· REG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82880" y="2615184"/>
            <a:ext cx="877824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2880" y="265176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Full audit trail — every step traceable to source in real time · drill-through available at any point in the pipeline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1440" y="2880360"/>
            <a:ext cx="17190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37160" y="289864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~6wks→~1wk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37160" y="31089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~83% cycle time reduction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901952" y="2880360"/>
            <a:ext cx="17190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947672" y="289864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947672" y="31089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coverage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712464" y="2880360"/>
            <a:ext cx="17190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58184" y="289864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58184" y="31089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inconsistency rate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522976" y="2880360"/>
            <a:ext cx="17190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568696" y="289864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568696" y="31089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Key-person dependencies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33488" y="2880360"/>
            <a:ext cx="17190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379208" y="289864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~40%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379208" y="31089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overhead reduction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1440" y="3438144"/>
            <a:ext cx="292608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82880" y="3483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Auditability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82880" y="3712464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82880" y="3749040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figure drills through to source row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Chain: dashboard → SQL → raw → source file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factor version on every output row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package auto-compiled on sign-off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108960" y="3438144"/>
            <a:ext cx="292608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200400" y="3483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Speed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0" y="3712464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200400" y="3749040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runs automatically on schedule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~1 week (was ~6 weeks)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limited to exceptions only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resolved in minutes via drill-through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26480" y="3438144"/>
            <a:ext cx="292608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17920" y="3483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Repeatability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17920" y="3712464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217920" y="3749040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pipeline every reporting cycle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analyst can run — no key-person risk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logic in Git — full methodology history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 documented — survives team changes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" y="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 — Foundation to Full Deployment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498080" y="54864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54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Plan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02336"/>
            <a:ext cx="9144000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" y="42062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types: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"/>
            <a:ext cx="41148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1872" y="42062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2487168" y="420624"/>
            <a:ext cx="411480" cy="109728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0" y="42062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/ SOP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4151376" y="420624"/>
            <a:ext cx="411480" cy="109728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0288" y="42062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build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815584" y="420624"/>
            <a:ext cx="411480" cy="10972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54496" y="42062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7479792" y="420624"/>
            <a:ext cx="411480" cy="109728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18704" y="42062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/ Validation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91440" y="603504"/>
            <a:ext cx="896112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9728" y="621792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" y="64008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28016" y="78638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Discovery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" y="111556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1–2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261872" y="64922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07592" y="64922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mapping — who owns what · who requests what · formats in use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261872" y="89611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07592" y="89611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audit — every current movement (SAP · factory · third-party · email chains)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261872" y="1143000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07592" y="114300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 inventory — SAP structure · factory outputs · known quality issues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138928" y="64922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84648" y="64922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&amp; scope inventory — all units · Scope 1/2/3 interpretations · emission factors used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138928" y="89611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84648" y="89611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draft — named owner per domain · submission Service Level Agreement agreed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91440" y="1426464"/>
            <a:ext cx="896112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9728" y="1444752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8016" y="146304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28016" y="160934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SOPs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8016" y="193852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2–4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261872" y="147218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07592" y="147218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dictionary — units standardised · Scope per GHG Protocol · factor sources documented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261872" y="171907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07592" y="171907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Standard Operating Procedure — template · SLA · escalation · completeness checklist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1261872" y="1965960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07592" y="196596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SOP — calculation logic · factor application · Scope methodology · reviewed &amp; signed off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138928" y="147218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84648" y="147218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RACI — named approver per domain · sign-off chain · correction process defined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138928" y="171907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184648" y="171907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 — cycle time · error rate · audit coverage · challenge resolution time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91440" y="2249424"/>
            <a:ext cx="896112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9728" y="2267712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28016" y="228600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28016" y="243230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28016" y="276148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3–7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261872" y="229514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307592" y="229514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connection — Python script · scheduled extract · controlled folder · run logging from day one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261872" y="254203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307592" y="254203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cleaning layer — unit standardisation · completeness checks · exception log · quality report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261872" y="2788920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307592" y="278892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Fabric Data Factory — in partnership with IT · pipeline · schedule · run health monitoring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138928" y="229514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184648" y="229514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transformation — unit conversion · emission factor joins · Scope 1/2/3 calculation · all in Git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138928" y="254203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184648" y="254203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reporting table — aggregated outputs · intensity ratios · year-on-year · lineage preserved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91440" y="3072384"/>
            <a:ext cx="896112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09728" y="3090672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28016" y="310896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28016" y="325526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Validation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28016" y="358444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6–9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261872" y="311810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307592" y="311810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DirectQuery — live connection to Fabric · no manual refresh · data freshness indicator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1261872" y="336499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307592" y="336499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dashboard — Scope 1/2/3 by site · intensity ratios · trend · drill-through on every figure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261872" y="3611880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307592" y="361188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extracts — Corporate Sustainability Reporting Directive · GHG Protocol · CDP — one-click from live data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5138928" y="311810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184648" y="311810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validation — walk through outputs · validate figures · confirm drill-through · sign-off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5138928" y="336499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184648" y="336499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success criteria — cycle time · error rate · challenge resolution — before vs after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91440" y="3895344"/>
            <a:ext cx="896112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9728" y="3913632"/>
            <a:ext cx="1078992" cy="749808"/>
          </a:xfrm>
          <a:prstGeom prst="roundRect">
            <a:avLst>
              <a:gd name="adj" fmla="val 48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28016" y="39319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28016" y="407822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Scale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28016" y="440740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9–12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261872" y="394106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307592" y="394106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all sources — factory systems · third-party · remaining manual inputs — same pattern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261872" y="418795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307592" y="418795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full reporting cycle — all sources · all calculations · all governance active · full sign-off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1261872" y="4434840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307592" y="443484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measurement — cycle time · manual hours saved · error rate — presented to leadership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5138928" y="3941064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184648" y="394106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handover — SOPs finalised · pipeline documented · any analyst can run or extend the process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138928" y="4187952"/>
            <a:ext cx="3767328" cy="210312"/>
          </a:xfrm>
          <a:prstGeom prst="roundRect">
            <a:avLst>
              <a:gd name="adj" fmla="val 13043"/>
            </a:avLst>
          </a:prstGeom>
          <a:solidFill>
            <a:srgbClr val="E2E8F0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184648" y="418795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use case identified — apply same pattern · scale the approach across the organisation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91440" y="4828032"/>
            <a:ext cx="896112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9728" y="4846320"/>
            <a:ext cx="1311250" cy="16459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109728" y="4846320"/>
            <a:ext cx="1311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Ph1 Wk1–2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1448410" y="4846320"/>
            <a:ext cx="1311250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1448410" y="4846320"/>
            <a:ext cx="1311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Ph2 Governance Wk2–4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87091" y="4846320"/>
            <a:ext cx="2649931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787091" y="4846320"/>
            <a:ext cx="26499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Pipeline build · Wk3–7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5464454" y="4846320"/>
            <a:ext cx="1757477" cy="164592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464454" y="4846320"/>
            <a:ext cx="17574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Validation · Wk6–9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7249363" y="4846320"/>
            <a:ext cx="1757477" cy="16459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249363" y="4846320"/>
            <a:ext cx="17574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Deploy · Wk9–12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91440" y="5047488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weeks to first fully deployed use case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2070</Words>
  <Application>Microsoft Macintosh PowerPoint</Application>
  <PresentationFormat>On-screen Show (16:9)</PresentationFormat>
  <Paragraphs>374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Sustainability &amp; Regulatory Reporting Transformation</dc:title>
  <dc:subject>PptxGenJS Presentation</dc:subject>
  <dc:creator>Victoria Moreno Sempere</dc:creator>
  <cp:lastModifiedBy>Victoria Moreno Sempere</cp:lastModifiedBy>
  <cp:revision>5</cp:revision>
  <dcterms:created xsi:type="dcterms:W3CDTF">2026-05-19T22:28:59Z</dcterms:created>
  <dcterms:modified xsi:type="dcterms:W3CDTF">2026-05-29T15:51:15Z</dcterms:modified>
</cp:coreProperties>
</file>